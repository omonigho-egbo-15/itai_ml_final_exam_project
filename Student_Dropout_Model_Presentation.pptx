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2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79" autoAdjust="0"/>
    <p:restoredTop sz="94660"/>
  </p:normalViewPr>
  <p:slideViewPr>
    <p:cSldViewPr snapToGrid="0" snapToObjects="1">
      <p:cViewPr>
        <p:scale>
          <a:sx n="100" d="100"/>
          <a:sy n="100" d="100"/>
        </p:scale>
        <p:origin x="924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884237"/>
            <a:ext cx="7772400" cy="1470025"/>
          </a:xfrm>
        </p:spPr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Dropout Prediction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2452" y="2751139"/>
            <a:ext cx="6400800" cy="1752600"/>
          </a:xfrm>
        </p:spPr>
        <p:txBody>
          <a:bodyPr>
            <a:normAutofit fontScale="925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Project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Omonigho Egbo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 of student success and dropout rates based on academic and socioeconomic factors.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Dataset: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10,000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(students)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records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Features: Demographics, Academic records, Economics.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</a:t>
            </a:r>
            <a:r>
              <a:rPr lang="en-US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/Re-engineering</a:t>
            </a:r>
            <a:endParaRPr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600200"/>
            <a:ext cx="8467725" cy="4525963"/>
          </a:xfrm>
        </p:spPr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 data shape: 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10000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, 1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Removed duplicates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No duplicate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Handled missing values in Age via median imputation.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Created feature: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Academic performance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539" y="72769"/>
            <a:ext cx="8182230" cy="93919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Evaluation Outcome(CM)-1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47C5F7-E363-2C9C-FE94-C0DF2ACF8B48}"/>
              </a:ext>
            </a:extLst>
          </p:cNvPr>
          <p:cNvSpPr txBox="1"/>
          <p:nvPr/>
        </p:nvSpPr>
        <p:spPr>
          <a:xfrm>
            <a:off x="238539" y="2078519"/>
            <a:ext cx="9243391" cy="5526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342900" indent="-342900">
              <a:lnSpc>
                <a:spcPts val="1425"/>
              </a:lnSpc>
              <a:buFont typeface="Wingdings" panose="05000000000000000000" pitchFamily="2" charset="2"/>
              <a:buChar char="q"/>
            </a:pP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False Negative (Bottom-Left):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Incorrectly predicted non-dropout students (Type II error).</a:t>
            </a:r>
          </a:p>
        </p:txBody>
      </p:sp>
      <p:sp>
        <p:nvSpPr>
          <p:cNvPr id="2059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37560" y="1850683"/>
            <a:ext cx="2468880" cy="18288"/>
          </a:xfrm>
          <a:custGeom>
            <a:avLst/>
            <a:gdLst>
              <a:gd name="csX0" fmla="*/ 0 w 2468880"/>
              <a:gd name="csY0" fmla="*/ 0 h 18288"/>
              <a:gd name="csX1" fmla="*/ 592531 w 2468880"/>
              <a:gd name="csY1" fmla="*/ 0 h 18288"/>
              <a:gd name="csX2" fmla="*/ 1160374 w 2468880"/>
              <a:gd name="csY2" fmla="*/ 0 h 18288"/>
              <a:gd name="csX3" fmla="*/ 1728216 w 2468880"/>
              <a:gd name="csY3" fmla="*/ 0 h 18288"/>
              <a:gd name="csX4" fmla="*/ 2468880 w 2468880"/>
              <a:gd name="csY4" fmla="*/ 0 h 18288"/>
              <a:gd name="csX5" fmla="*/ 2468880 w 2468880"/>
              <a:gd name="csY5" fmla="*/ 18288 h 18288"/>
              <a:gd name="csX6" fmla="*/ 1802282 w 2468880"/>
              <a:gd name="csY6" fmla="*/ 18288 h 18288"/>
              <a:gd name="csX7" fmla="*/ 1209751 w 2468880"/>
              <a:gd name="csY7" fmla="*/ 18288 h 18288"/>
              <a:gd name="csX8" fmla="*/ 641909 w 2468880"/>
              <a:gd name="csY8" fmla="*/ 18288 h 18288"/>
              <a:gd name="csX9" fmla="*/ 0 w 2468880"/>
              <a:gd name="csY9" fmla="*/ 18288 h 18288"/>
              <a:gd name="csX10" fmla="*/ 0 w 2468880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68880" h="18288" fill="none" extrusionOk="0">
                <a:moveTo>
                  <a:pt x="0" y="0"/>
                </a:moveTo>
                <a:cubicBezTo>
                  <a:pt x="171523" y="-1510"/>
                  <a:pt x="416079" y="20036"/>
                  <a:pt x="592531" y="0"/>
                </a:cubicBezTo>
                <a:cubicBezTo>
                  <a:pt x="768983" y="-20036"/>
                  <a:pt x="878305" y="13110"/>
                  <a:pt x="1160374" y="0"/>
                </a:cubicBezTo>
                <a:cubicBezTo>
                  <a:pt x="1442443" y="-13110"/>
                  <a:pt x="1612108" y="24695"/>
                  <a:pt x="1728216" y="0"/>
                </a:cubicBezTo>
                <a:cubicBezTo>
                  <a:pt x="1844324" y="-24695"/>
                  <a:pt x="2271040" y="20667"/>
                  <a:pt x="2468880" y="0"/>
                </a:cubicBezTo>
                <a:cubicBezTo>
                  <a:pt x="2468302" y="4771"/>
                  <a:pt x="2469633" y="12323"/>
                  <a:pt x="2468880" y="18288"/>
                </a:cubicBezTo>
                <a:cubicBezTo>
                  <a:pt x="2229297" y="-14659"/>
                  <a:pt x="2066775" y="30253"/>
                  <a:pt x="1802282" y="18288"/>
                </a:cubicBezTo>
                <a:cubicBezTo>
                  <a:pt x="1537789" y="6323"/>
                  <a:pt x="1379930" y="22266"/>
                  <a:pt x="1209751" y="18288"/>
                </a:cubicBezTo>
                <a:cubicBezTo>
                  <a:pt x="1039572" y="14310"/>
                  <a:pt x="837025" y="12850"/>
                  <a:pt x="641909" y="18288"/>
                </a:cubicBezTo>
                <a:cubicBezTo>
                  <a:pt x="446793" y="23726"/>
                  <a:pt x="170561" y="18472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468880" h="18288" stroke="0" extrusionOk="0">
                <a:moveTo>
                  <a:pt x="0" y="0"/>
                </a:moveTo>
                <a:cubicBezTo>
                  <a:pt x="190931" y="24910"/>
                  <a:pt x="333688" y="11559"/>
                  <a:pt x="567842" y="0"/>
                </a:cubicBezTo>
                <a:cubicBezTo>
                  <a:pt x="801996" y="-11559"/>
                  <a:pt x="939971" y="-5677"/>
                  <a:pt x="1234440" y="0"/>
                </a:cubicBezTo>
                <a:cubicBezTo>
                  <a:pt x="1528909" y="5677"/>
                  <a:pt x="1658539" y="5184"/>
                  <a:pt x="1777594" y="0"/>
                </a:cubicBezTo>
                <a:cubicBezTo>
                  <a:pt x="1896649" y="-5184"/>
                  <a:pt x="2186164" y="23915"/>
                  <a:pt x="2468880" y="0"/>
                </a:cubicBezTo>
                <a:cubicBezTo>
                  <a:pt x="2468266" y="8857"/>
                  <a:pt x="2469384" y="13619"/>
                  <a:pt x="2468880" y="18288"/>
                </a:cubicBezTo>
                <a:cubicBezTo>
                  <a:pt x="2271330" y="36599"/>
                  <a:pt x="2001027" y="31554"/>
                  <a:pt x="1876349" y="18288"/>
                </a:cubicBezTo>
                <a:cubicBezTo>
                  <a:pt x="1751671" y="5022"/>
                  <a:pt x="1364652" y="15063"/>
                  <a:pt x="1209751" y="18288"/>
                </a:cubicBezTo>
                <a:cubicBezTo>
                  <a:pt x="1054850" y="21513"/>
                  <a:pt x="748438" y="20074"/>
                  <a:pt x="617220" y="18288"/>
                </a:cubicBezTo>
                <a:cubicBezTo>
                  <a:pt x="486002" y="16502"/>
                  <a:pt x="237432" y="27200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AE5E9B-03E2-52AF-A20C-F5E79636FBAE}"/>
              </a:ext>
            </a:extLst>
          </p:cNvPr>
          <p:cNvSpPr txBox="1"/>
          <p:nvPr/>
        </p:nvSpPr>
        <p:spPr>
          <a:xfrm>
            <a:off x="238539" y="716652"/>
            <a:ext cx="8532283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b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endParaRPr lang="en-US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ts val="1425"/>
              </a:lnSpc>
              <a:buFont typeface="Wingdings" panose="05000000000000000000" pitchFamily="2" charset="2"/>
              <a:buChar char="q"/>
            </a:pP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True Negative (Top-Left):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Correctly predicted non-dropout students.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1F1F1F"/>
              </a:solidFill>
              <a:effectLst/>
              <a:latin typeface="Google Sans Tex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18C617-6D8F-5C14-1863-2CAAA15EA850}"/>
              </a:ext>
            </a:extLst>
          </p:cNvPr>
          <p:cNvSpPr txBox="1"/>
          <p:nvPr/>
        </p:nvSpPr>
        <p:spPr>
          <a:xfrm>
            <a:off x="238539" y="2725518"/>
            <a:ext cx="7364896" cy="719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ctr" defTabSz="914400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q"/>
            </a:pP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True Positive (Bottom-Right):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Correctly predicted dropout students.</a:t>
            </a:r>
          </a:p>
          <a:p>
            <a:pPr marL="285750" indent="-285750" algn="ctr" defTabSz="914400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q"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02DBC1-9BA0-2E63-5FDF-0F5AF8D859C8}"/>
              </a:ext>
            </a:extLst>
          </p:cNvPr>
          <p:cNvSpPr txBox="1"/>
          <p:nvPr/>
        </p:nvSpPr>
        <p:spPr>
          <a:xfrm>
            <a:off x="588592" y="1498917"/>
            <a:ext cx="8073380" cy="281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1425"/>
              </a:lnSpc>
              <a:buFont typeface="Wingdings" panose="05000000000000000000" pitchFamily="2" charset="2"/>
              <a:buChar char="q"/>
            </a:pP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False Positive (Top-Right):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Incorrectly predicted dropout students (Type I error).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503163-7945-F7AD-DFE1-F4C7B770CA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283" y="3085104"/>
            <a:ext cx="4340157" cy="38345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740" y="-184462"/>
            <a:ext cx="7827830" cy="110980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Outcome(ROC Curves)-2</a:t>
            </a:r>
          </a:p>
        </p:txBody>
      </p:sp>
      <p:sp>
        <p:nvSpPr>
          <p:cNvPr id="1035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37560" y="1850683"/>
            <a:ext cx="2468880" cy="18288"/>
          </a:xfrm>
          <a:custGeom>
            <a:avLst/>
            <a:gdLst>
              <a:gd name="csX0" fmla="*/ 0 w 2468880"/>
              <a:gd name="csY0" fmla="*/ 0 h 18288"/>
              <a:gd name="csX1" fmla="*/ 592531 w 2468880"/>
              <a:gd name="csY1" fmla="*/ 0 h 18288"/>
              <a:gd name="csX2" fmla="*/ 1160374 w 2468880"/>
              <a:gd name="csY2" fmla="*/ 0 h 18288"/>
              <a:gd name="csX3" fmla="*/ 1728216 w 2468880"/>
              <a:gd name="csY3" fmla="*/ 0 h 18288"/>
              <a:gd name="csX4" fmla="*/ 2468880 w 2468880"/>
              <a:gd name="csY4" fmla="*/ 0 h 18288"/>
              <a:gd name="csX5" fmla="*/ 2468880 w 2468880"/>
              <a:gd name="csY5" fmla="*/ 18288 h 18288"/>
              <a:gd name="csX6" fmla="*/ 1802282 w 2468880"/>
              <a:gd name="csY6" fmla="*/ 18288 h 18288"/>
              <a:gd name="csX7" fmla="*/ 1209751 w 2468880"/>
              <a:gd name="csY7" fmla="*/ 18288 h 18288"/>
              <a:gd name="csX8" fmla="*/ 641909 w 2468880"/>
              <a:gd name="csY8" fmla="*/ 18288 h 18288"/>
              <a:gd name="csX9" fmla="*/ 0 w 2468880"/>
              <a:gd name="csY9" fmla="*/ 18288 h 18288"/>
              <a:gd name="csX10" fmla="*/ 0 w 2468880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68880" h="18288" fill="none" extrusionOk="0">
                <a:moveTo>
                  <a:pt x="0" y="0"/>
                </a:moveTo>
                <a:cubicBezTo>
                  <a:pt x="171523" y="-1510"/>
                  <a:pt x="416079" y="20036"/>
                  <a:pt x="592531" y="0"/>
                </a:cubicBezTo>
                <a:cubicBezTo>
                  <a:pt x="768983" y="-20036"/>
                  <a:pt x="878305" y="13110"/>
                  <a:pt x="1160374" y="0"/>
                </a:cubicBezTo>
                <a:cubicBezTo>
                  <a:pt x="1442443" y="-13110"/>
                  <a:pt x="1612108" y="24695"/>
                  <a:pt x="1728216" y="0"/>
                </a:cubicBezTo>
                <a:cubicBezTo>
                  <a:pt x="1844324" y="-24695"/>
                  <a:pt x="2271040" y="20667"/>
                  <a:pt x="2468880" y="0"/>
                </a:cubicBezTo>
                <a:cubicBezTo>
                  <a:pt x="2468302" y="4771"/>
                  <a:pt x="2469633" y="12323"/>
                  <a:pt x="2468880" y="18288"/>
                </a:cubicBezTo>
                <a:cubicBezTo>
                  <a:pt x="2229297" y="-14659"/>
                  <a:pt x="2066775" y="30253"/>
                  <a:pt x="1802282" y="18288"/>
                </a:cubicBezTo>
                <a:cubicBezTo>
                  <a:pt x="1537789" y="6323"/>
                  <a:pt x="1379930" y="22266"/>
                  <a:pt x="1209751" y="18288"/>
                </a:cubicBezTo>
                <a:cubicBezTo>
                  <a:pt x="1039572" y="14310"/>
                  <a:pt x="837025" y="12850"/>
                  <a:pt x="641909" y="18288"/>
                </a:cubicBezTo>
                <a:cubicBezTo>
                  <a:pt x="446793" y="23726"/>
                  <a:pt x="170561" y="18472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468880" h="18288" stroke="0" extrusionOk="0">
                <a:moveTo>
                  <a:pt x="0" y="0"/>
                </a:moveTo>
                <a:cubicBezTo>
                  <a:pt x="190931" y="24910"/>
                  <a:pt x="333688" y="11559"/>
                  <a:pt x="567842" y="0"/>
                </a:cubicBezTo>
                <a:cubicBezTo>
                  <a:pt x="801996" y="-11559"/>
                  <a:pt x="939971" y="-5677"/>
                  <a:pt x="1234440" y="0"/>
                </a:cubicBezTo>
                <a:cubicBezTo>
                  <a:pt x="1528909" y="5677"/>
                  <a:pt x="1658539" y="5184"/>
                  <a:pt x="1777594" y="0"/>
                </a:cubicBezTo>
                <a:cubicBezTo>
                  <a:pt x="1896649" y="-5184"/>
                  <a:pt x="2186164" y="23915"/>
                  <a:pt x="2468880" y="0"/>
                </a:cubicBezTo>
                <a:cubicBezTo>
                  <a:pt x="2468266" y="8857"/>
                  <a:pt x="2469384" y="13619"/>
                  <a:pt x="2468880" y="18288"/>
                </a:cubicBezTo>
                <a:cubicBezTo>
                  <a:pt x="2271330" y="36599"/>
                  <a:pt x="2001027" y="31554"/>
                  <a:pt x="1876349" y="18288"/>
                </a:cubicBezTo>
                <a:cubicBezTo>
                  <a:pt x="1751671" y="5022"/>
                  <a:pt x="1364652" y="15063"/>
                  <a:pt x="1209751" y="18288"/>
                </a:cubicBezTo>
                <a:cubicBezTo>
                  <a:pt x="1054850" y="21513"/>
                  <a:pt x="748438" y="20074"/>
                  <a:pt x="617220" y="18288"/>
                </a:cubicBezTo>
                <a:cubicBezTo>
                  <a:pt x="486002" y="16502"/>
                  <a:pt x="237432" y="27200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86E4AA-6E12-D37D-1A6A-D214FD5C7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7592" y="1841898"/>
            <a:ext cx="5697728" cy="47211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2C5F0DF-9951-D965-E5AE-35C066A0FB6A}"/>
              </a:ext>
            </a:extLst>
          </p:cNvPr>
          <p:cNvSpPr txBox="1"/>
          <p:nvPr/>
        </p:nvSpPr>
        <p:spPr>
          <a:xfrm>
            <a:off x="181765" y="934127"/>
            <a:ext cx="8778183" cy="7571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defTabSz="914400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Char char="q"/>
              <a:defRPr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ROC curve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plots the True Positive Rate (TPR) against the False Positive Rate (FPR) at various threshold settings.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93C1DD-EEC2-6117-9373-8256AD4A7EE4}"/>
              </a:ext>
            </a:extLst>
          </p:cNvPr>
          <p:cNvSpPr txBox="1"/>
          <p:nvPr/>
        </p:nvSpPr>
        <p:spPr>
          <a:xfrm>
            <a:off x="78680" y="1850683"/>
            <a:ext cx="32588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 provides an aggregate measure of performance across all possible classification thresholds.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AB53A5-D381-E97A-33DE-0F156944FEA8}"/>
              </a:ext>
            </a:extLst>
          </p:cNvPr>
          <p:cNvSpPr txBox="1"/>
          <p:nvPr/>
        </p:nvSpPr>
        <p:spPr>
          <a:xfrm>
            <a:off x="158060" y="3649405"/>
            <a:ext cx="328592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 AUC of 1.0 represents a perfect classifier, while an AUC of 0.5 represents a random classifier (the dashed line).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5" name="Rectangle 3084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6437" y="0"/>
            <a:ext cx="7879026" cy="690181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defTabSz="914400">
              <a:lnSpc>
                <a:spcPct val="90000"/>
              </a:lnSpc>
            </a:pPr>
            <a:r>
              <a:rPr lang="en-US" sz="4500" kern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Finding 3:Model Performance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C5E537-2242-9A59-9A11-B0F0C3B21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537" y="560508"/>
            <a:ext cx="6858000" cy="34067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73142B-90F1-3373-68DF-1C5E66B46D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537" y="2180667"/>
            <a:ext cx="6858000" cy="34996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B21AF3-F604-9C35-04B2-9E2C75E183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737" y="3764036"/>
            <a:ext cx="6858000" cy="340678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ABE1108-6423-4E53-85A1-817683043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FE3374-9AB3-CFDD-CE86-B8B6901BCD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647" r="17169"/>
          <a:stretch>
            <a:fillRect/>
          </a:stretch>
        </p:blipFill>
        <p:spPr>
          <a:xfrm>
            <a:off x="131159" y="-147354"/>
            <a:ext cx="6056990" cy="44418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2AEA8D9-7CB5-8E78-57C4-A7AD048BF2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464" r="17351"/>
          <a:stretch>
            <a:fillRect/>
          </a:stretch>
        </p:blipFill>
        <p:spPr>
          <a:xfrm>
            <a:off x="131160" y="2494649"/>
            <a:ext cx="6056990" cy="444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791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09675" y="6281"/>
            <a:ext cx="5061916" cy="1143000"/>
          </a:xfrm>
        </p:spPr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B2FA18-8E2B-95C6-A5CF-7FB48B525AD7}"/>
              </a:ext>
            </a:extLst>
          </p:cNvPr>
          <p:cNvSpPr txBox="1"/>
          <p:nvPr/>
        </p:nvSpPr>
        <p:spPr>
          <a:xfrm>
            <a:off x="401495" y="1286081"/>
            <a:ext cx="834101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/>
              <a:t>The study suggests that large performance drops from validation to test sets may indicate overfitting, especially when validation scores are much higher than test scores.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B2B9A5-8507-756E-61C3-583E225F1C9A}"/>
              </a:ext>
            </a:extLst>
          </p:cNvPr>
          <p:cNvSpPr txBox="1"/>
          <p:nvPr/>
        </p:nvSpPr>
        <p:spPr>
          <a:xfrm>
            <a:off x="2087218" y="5177909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200" dirty="0">
                <a:solidFill>
                  <a:srgbClr val="00B050"/>
                </a:solidFill>
                <a:highlight>
                  <a:srgbClr val="00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Thank you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4E94BC-AF44-391F-F570-AF80189DF38A}"/>
              </a:ext>
            </a:extLst>
          </p:cNvPr>
          <p:cNvSpPr txBox="1"/>
          <p:nvPr/>
        </p:nvSpPr>
        <p:spPr>
          <a:xfrm>
            <a:off x="287311" y="2459808"/>
            <a:ext cx="852176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These visualizations are crucial for identifying the most robust and best-performing models, as well as for detecting potential issues like overfitting before deploying a model.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73EDA4-BB63-65B7-5750-CE06856F28BF}"/>
              </a:ext>
            </a:extLst>
          </p:cNvPr>
          <p:cNvSpPr txBox="1"/>
          <p:nvPr/>
        </p:nvSpPr>
        <p:spPr>
          <a:xfrm>
            <a:off x="377688" y="3750227"/>
            <a:ext cx="8218968" cy="87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This visualization helps to understand the types of errors the model is making, which is crucial for evaluating its effectiveness in a real-world scenario.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1069</TotalTime>
  <Words>292</Words>
  <Application>Microsoft Office PowerPoint</Application>
  <PresentationFormat>On-screen Show (4:3)</PresentationFormat>
  <Paragraphs>29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Courier New</vt:lpstr>
      <vt:lpstr>Google Sans Text</vt:lpstr>
      <vt:lpstr>Times New Roman</vt:lpstr>
      <vt:lpstr>Wingdings</vt:lpstr>
      <vt:lpstr>Office Theme</vt:lpstr>
      <vt:lpstr>Student Dropout Prediction Analysis</vt:lpstr>
      <vt:lpstr>Project Overview</vt:lpstr>
      <vt:lpstr>Data Cleaning/Re-engineering</vt:lpstr>
      <vt:lpstr> Evaluation Outcome(CM)-1</vt:lpstr>
      <vt:lpstr>Evaluation Outcome(ROC Curves)-2</vt:lpstr>
      <vt:lpstr>Finding 3:Model Performance</vt:lpstr>
      <vt:lpstr>PowerPoint Presentation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Admin</dc:creator>
  <cp:keywords/>
  <dc:description>generated using python-pptx</dc:description>
  <cp:lastModifiedBy>omonigho.egbo-W213989785</cp:lastModifiedBy>
  <cp:revision>11</cp:revision>
  <dcterms:created xsi:type="dcterms:W3CDTF">2013-01-27T09:14:16Z</dcterms:created>
  <dcterms:modified xsi:type="dcterms:W3CDTF">2026-05-07T19:28:06Z</dcterms:modified>
  <cp:category/>
</cp:coreProperties>
</file>