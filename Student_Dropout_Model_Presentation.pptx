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79" autoAdjust="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04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84237"/>
            <a:ext cx="7772400" cy="1470025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Dropout Prediction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2452" y="2751139"/>
            <a:ext cx="6400800" cy="1752600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Omonigho Egbo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student success and dropout rates based on academic and socioeconomic factors.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Dataset: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10,000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(students)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Features: Demographics, Academic records, Economics.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/Re-engineering</a:t>
            </a:r>
            <a:endParaRPr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467725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data shape: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10000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Removed duplicates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 duplicate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Handled missing values in Age via median imputation.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Created feature: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performance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539" y="72769"/>
            <a:ext cx="8182230" cy="9391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Evaluation Outcome(CM)-1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47C5F7-E363-2C9C-FE94-C0DF2ACF8B48}"/>
              </a:ext>
            </a:extLst>
          </p:cNvPr>
          <p:cNvSpPr txBox="1"/>
          <p:nvPr/>
        </p:nvSpPr>
        <p:spPr>
          <a:xfrm>
            <a:off x="238539" y="2078519"/>
            <a:ext cx="9243391" cy="5526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42900" indent="-342900">
              <a:lnSpc>
                <a:spcPts val="1425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 (Bottom-Left):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Incorrectly predicted non-dropout students (Type II error).</a:t>
            </a:r>
          </a:p>
        </p:txBody>
      </p:sp>
      <p:sp>
        <p:nvSpPr>
          <p:cNvPr id="2059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1850683"/>
            <a:ext cx="2468880" cy="18288"/>
          </a:xfrm>
          <a:custGeom>
            <a:avLst/>
            <a:gdLst>
              <a:gd name="csX0" fmla="*/ 0 w 2468880"/>
              <a:gd name="csY0" fmla="*/ 0 h 18288"/>
              <a:gd name="csX1" fmla="*/ 592531 w 2468880"/>
              <a:gd name="csY1" fmla="*/ 0 h 18288"/>
              <a:gd name="csX2" fmla="*/ 1160374 w 2468880"/>
              <a:gd name="csY2" fmla="*/ 0 h 18288"/>
              <a:gd name="csX3" fmla="*/ 1728216 w 2468880"/>
              <a:gd name="csY3" fmla="*/ 0 h 18288"/>
              <a:gd name="csX4" fmla="*/ 2468880 w 2468880"/>
              <a:gd name="csY4" fmla="*/ 0 h 18288"/>
              <a:gd name="csX5" fmla="*/ 2468880 w 2468880"/>
              <a:gd name="csY5" fmla="*/ 18288 h 18288"/>
              <a:gd name="csX6" fmla="*/ 1802282 w 2468880"/>
              <a:gd name="csY6" fmla="*/ 18288 h 18288"/>
              <a:gd name="csX7" fmla="*/ 1209751 w 2468880"/>
              <a:gd name="csY7" fmla="*/ 18288 h 18288"/>
              <a:gd name="csX8" fmla="*/ 641909 w 2468880"/>
              <a:gd name="csY8" fmla="*/ 18288 h 18288"/>
              <a:gd name="csX9" fmla="*/ 0 w 2468880"/>
              <a:gd name="csY9" fmla="*/ 18288 h 18288"/>
              <a:gd name="csX10" fmla="*/ 0 w 246888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AE5E9B-03E2-52AF-A20C-F5E79636FBAE}"/>
              </a:ext>
            </a:extLst>
          </p:cNvPr>
          <p:cNvSpPr txBox="1"/>
          <p:nvPr/>
        </p:nvSpPr>
        <p:spPr>
          <a:xfrm>
            <a:off x="238539" y="716652"/>
            <a:ext cx="8532283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 Negative (Top-Left):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Correctly predicted non-dropout students.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Google Sans Tex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18C617-6D8F-5C14-1863-2CAAA15EA850}"/>
              </a:ext>
            </a:extLst>
          </p:cNvPr>
          <p:cNvSpPr txBox="1"/>
          <p:nvPr/>
        </p:nvSpPr>
        <p:spPr>
          <a:xfrm>
            <a:off x="238539" y="2725518"/>
            <a:ext cx="7364896" cy="71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 defTabSz="9144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 Positive (Bottom-Right):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Correctly predicted dropout students.</a:t>
            </a:r>
          </a:p>
          <a:p>
            <a:pPr marL="285750" indent="-285750" algn="ctr" defTabSz="9144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02DBC1-9BA0-2E63-5FDF-0F5AF8D859C8}"/>
              </a:ext>
            </a:extLst>
          </p:cNvPr>
          <p:cNvSpPr txBox="1"/>
          <p:nvPr/>
        </p:nvSpPr>
        <p:spPr>
          <a:xfrm>
            <a:off x="588592" y="1498917"/>
            <a:ext cx="8073380" cy="28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 (Top-Right):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Incorrectly predicted dropout students (Type I error).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503163-7945-F7AD-DFE1-F4C7B770C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25" y="3023492"/>
            <a:ext cx="4340157" cy="38345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D6A182-0EB9-EC43-0E92-B022D86C3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631" y="3539029"/>
            <a:ext cx="4433369" cy="2190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740" y="-184462"/>
            <a:ext cx="7827830" cy="11098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Outcome(ROC Curves)-2</a:t>
            </a:r>
          </a:p>
        </p:txBody>
      </p:sp>
      <p:sp>
        <p:nvSpPr>
          <p:cNvPr id="103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1850683"/>
            <a:ext cx="2468880" cy="18288"/>
          </a:xfrm>
          <a:custGeom>
            <a:avLst/>
            <a:gdLst>
              <a:gd name="csX0" fmla="*/ 0 w 2468880"/>
              <a:gd name="csY0" fmla="*/ 0 h 18288"/>
              <a:gd name="csX1" fmla="*/ 592531 w 2468880"/>
              <a:gd name="csY1" fmla="*/ 0 h 18288"/>
              <a:gd name="csX2" fmla="*/ 1160374 w 2468880"/>
              <a:gd name="csY2" fmla="*/ 0 h 18288"/>
              <a:gd name="csX3" fmla="*/ 1728216 w 2468880"/>
              <a:gd name="csY3" fmla="*/ 0 h 18288"/>
              <a:gd name="csX4" fmla="*/ 2468880 w 2468880"/>
              <a:gd name="csY4" fmla="*/ 0 h 18288"/>
              <a:gd name="csX5" fmla="*/ 2468880 w 2468880"/>
              <a:gd name="csY5" fmla="*/ 18288 h 18288"/>
              <a:gd name="csX6" fmla="*/ 1802282 w 2468880"/>
              <a:gd name="csY6" fmla="*/ 18288 h 18288"/>
              <a:gd name="csX7" fmla="*/ 1209751 w 2468880"/>
              <a:gd name="csY7" fmla="*/ 18288 h 18288"/>
              <a:gd name="csX8" fmla="*/ 641909 w 2468880"/>
              <a:gd name="csY8" fmla="*/ 18288 h 18288"/>
              <a:gd name="csX9" fmla="*/ 0 w 2468880"/>
              <a:gd name="csY9" fmla="*/ 18288 h 18288"/>
              <a:gd name="csX10" fmla="*/ 0 w 246888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86E4AA-6E12-D37D-1A6A-D214FD5C7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592" y="1841898"/>
            <a:ext cx="5697728" cy="47211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C5F0DF-9951-D965-E5AE-35C066A0FB6A}"/>
              </a:ext>
            </a:extLst>
          </p:cNvPr>
          <p:cNvSpPr txBox="1"/>
          <p:nvPr/>
        </p:nvSpPr>
        <p:spPr>
          <a:xfrm>
            <a:off x="181765" y="934127"/>
            <a:ext cx="8778183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defTabSz="9144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q"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 curve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plots the True Positive Rate (TPR) against the False Positive Rate (FPR) at various threshold settings.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93C1DD-EEC2-6117-9373-8256AD4A7EE4}"/>
              </a:ext>
            </a:extLst>
          </p:cNvPr>
          <p:cNvSpPr txBox="1"/>
          <p:nvPr/>
        </p:nvSpPr>
        <p:spPr>
          <a:xfrm>
            <a:off x="78680" y="1850683"/>
            <a:ext cx="32588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an aggregate measure of performance across all possible classification thresholds.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AB53A5-D381-E97A-33DE-0F156944FEA8}"/>
              </a:ext>
            </a:extLst>
          </p:cNvPr>
          <p:cNvSpPr txBox="1"/>
          <p:nvPr/>
        </p:nvSpPr>
        <p:spPr>
          <a:xfrm>
            <a:off x="158060" y="3649405"/>
            <a:ext cx="32859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AUC of 1.0 represents a perfect classifier, while an AUC of 0.5 represents a random classifier (the dashed line).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5" name="Rectangle 3084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437" y="0"/>
            <a:ext cx="7879026" cy="69018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45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3:Model Performance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C5E537-2242-9A59-9A11-B0F0C3B21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37" y="560508"/>
            <a:ext cx="6858000" cy="3406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73142B-90F1-3373-68DF-1C5E66B46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37" y="2180667"/>
            <a:ext cx="6858000" cy="34996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B21AF3-F604-9C35-04B2-9E2C75E18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37" y="3764036"/>
            <a:ext cx="6858000" cy="34067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ABE1108-6423-4E53-85A1-817683043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FE3374-9AB3-CFDD-CE86-B8B6901BCD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47" r="17169"/>
          <a:stretch>
            <a:fillRect/>
          </a:stretch>
        </p:blipFill>
        <p:spPr>
          <a:xfrm>
            <a:off x="131159" y="-147354"/>
            <a:ext cx="6056990" cy="44418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AEA8D9-7CB5-8E78-57C4-A7AD048BF2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64" r="17351"/>
          <a:stretch>
            <a:fillRect/>
          </a:stretch>
        </p:blipFill>
        <p:spPr>
          <a:xfrm>
            <a:off x="131160" y="2494649"/>
            <a:ext cx="6056990" cy="444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791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9675" y="6281"/>
            <a:ext cx="5061916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B2FA18-8E2B-95C6-A5CF-7FB48B525AD7}"/>
              </a:ext>
            </a:extLst>
          </p:cNvPr>
          <p:cNvSpPr txBox="1"/>
          <p:nvPr/>
        </p:nvSpPr>
        <p:spPr>
          <a:xfrm>
            <a:off x="401495" y="1286081"/>
            <a:ext cx="83410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The study suggests that large performance drops from validation to test sets may indicate overfitting, especially when validation scores are much higher than test scores.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B2B9A5-8507-756E-61C3-583E225F1C9A}"/>
              </a:ext>
            </a:extLst>
          </p:cNvPr>
          <p:cNvSpPr txBox="1"/>
          <p:nvPr/>
        </p:nvSpPr>
        <p:spPr>
          <a:xfrm>
            <a:off x="2087218" y="5177909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dirty="0">
                <a:solidFill>
                  <a:srgbClr val="00B050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4E94BC-AF44-391F-F570-AF80189DF38A}"/>
              </a:ext>
            </a:extLst>
          </p:cNvPr>
          <p:cNvSpPr txBox="1"/>
          <p:nvPr/>
        </p:nvSpPr>
        <p:spPr>
          <a:xfrm>
            <a:off x="287311" y="2459808"/>
            <a:ext cx="85217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visualizations are crucial for identifying the most robust and best-performing models, as well as for detecting potential issues like overfitting before deploying a model.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73EDA4-BB63-65B7-5750-CE06856F28BF}"/>
              </a:ext>
            </a:extLst>
          </p:cNvPr>
          <p:cNvSpPr txBox="1"/>
          <p:nvPr/>
        </p:nvSpPr>
        <p:spPr>
          <a:xfrm>
            <a:off x="377688" y="3750227"/>
            <a:ext cx="8218968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visualization helps to understand the types of errors the model is making, which is crucial for evaluating its effectiveness in a real-world scenario.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1074</TotalTime>
  <Words>292</Words>
  <Application>Microsoft Office PowerPoint</Application>
  <PresentationFormat>On-screen Show (4:3)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Courier New</vt:lpstr>
      <vt:lpstr>Google Sans Text</vt:lpstr>
      <vt:lpstr>Times New Roman</vt:lpstr>
      <vt:lpstr>Wingdings</vt:lpstr>
      <vt:lpstr>Office Theme</vt:lpstr>
      <vt:lpstr>Student Dropout Prediction Analysis</vt:lpstr>
      <vt:lpstr>Project Overview</vt:lpstr>
      <vt:lpstr>Data Cleaning/Re-engineering</vt:lpstr>
      <vt:lpstr> Evaluation Outcome(CM)-1</vt:lpstr>
      <vt:lpstr>Evaluation Outcome(ROC Curves)-2</vt:lpstr>
      <vt:lpstr>Finding 3:Model Performance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omonigho.egbo-W213989785</cp:lastModifiedBy>
  <cp:revision>12</cp:revision>
  <dcterms:created xsi:type="dcterms:W3CDTF">2013-01-27T09:14:16Z</dcterms:created>
  <dcterms:modified xsi:type="dcterms:W3CDTF">2026-05-07T21:17:20Z</dcterms:modified>
  <cp:category/>
</cp:coreProperties>
</file>